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16"/>
  </p:normalViewPr>
  <p:slideViewPr>
    <p:cSldViewPr>
      <p:cViewPr>
        <p:scale>
          <a:sx n="95" d="100"/>
          <a:sy n="95" d="100"/>
        </p:scale>
        <p:origin x="1240" y="76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Bg"/>
          <p:cNvSpPr/>
          <p:nvPr/>
        </p:nvSpPr>
        <p:spPr>
          <a:xfrm>
            <a:off x="0" y="332656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opAccent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ainTitle"/>
          <p:cNvSpPr txBox="1"/>
          <p:nvPr/>
        </p:nvSpPr>
        <p:spPr>
          <a:xfrm>
            <a:off x="883920" y="2478024"/>
            <a:ext cx="10424160" cy="2011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/>
                <a:cs typeface="Calibri"/>
              </a:rPr>
              <a:t>CampusHub</a:t>
            </a:r>
          </a:p>
          <a:p>
            <a:pPr algn="l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E2E8F0"/>
                </a:solidFill>
                <a:latin typeface="Calibri"/>
                <a:cs typeface="Calibri"/>
              </a:rPr>
              <a:t>University Student, Faculty &amp; Course Management System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cs typeface="Calibri"/>
              </a:rPr>
              <a:t>MySQL 8.0 (Relational ACID Engine) + MongoDB (NoSQL Document Store) + Python Flask</a:t>
            </a: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cs typeface="Calibri"/>
              </a:rPr>
              <a:t>Name: Lamya Kadiwala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cs typeface="Calibri"/>
              </a:rPr>
              <a:t>Registration No: 2502051918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cs typeface="Calibri"/>
              </a:rPr>
              <a:t>Section: M4</a:t>
            </a:r>
          </a:p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cs typeface="Calibri"/>
              </a:rPr>
              <a:t>RDBMS Fast Learners Assignment</a:t>
            </a:r>
          </a:p>
          <a:p>
            <a:pPr algn="l">
              <a:spcAft>
                <a:spcPts val="0"/>
              </a:spcAft>
              <a:buNone/>
            </a:pPr>
            <a:endParaRPr lang="en-US" sz="1400" dirty="0">
              <a:solidFill>
                <a:srgbClr val="94A3B8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MOTIVATION &amp; ARCHITECTURE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Problem Statement &amp; Why Hybrid RDBMS + NoSQL?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Why modern university ERP platforms require Polyglot Persistence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02 / 12</a:t>
            </a:r>
          </a:p>
        </p:txBody>
      </p:sp>
      <p:sp>
        <p:nvSpPr>
          <p:cNvPr id="10" name="LeftCol"/>
          <p:cNvSpPr txBox="1"/>
          <p:nvPr/>
        </p:nvSpPr>
        <p:spPr>
          <a:xfrm>
            <a:off x="548640" y="155448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200000" tIns="200000" rIns="200000" bIns="200000" anchor="t"/>
          <a:lstStyle/>
          <a:p>
            <a:pPr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Calibri"/>
                <a:cs typeface="Calibri"/>
              </a:rPr>
              <a:t>The Challenge with Single-Database Systems</a:t>
            </a:r>
          </a:p>
          <a:p>
            <a:pPr algn="l"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/>
                <a:cs typeface="Calibri"/>
              </a:rPr>
              <a:t>Traditional RDBMS-only systems excel at structured relational records but struggle with schema-flexible feeds, multi-tag course broadcasts, and high-volume session logs.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/>
                <a:cs typeface="Calibri"/>
              </a:rPr>
              <a:t>Concurrent Course Registration requires strict ACID row-level locking (SELECT ... FOR UPDATE) so seat capacity is never exceeded.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/>
                <a:cs typeface="Calibri"/>
              </a:rPr>
              <a:t>Grade Modifications require database-level AFTER UPDATE triggers to guarantee an immutable compliance audit trail.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/>
                <a:cs typeface="Calibri"/>
              </a:rPr>
              <a:t>Course Announcements &amp; Student Reviews contain variable tag arrays and require live star-rating aggregation pipelines.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/>
                <a:cs typeface="Calibri"/>
              </a:rPr>
              <a:t>Daily Class Attendance across 12 courses creates thousands of rows; storing each session as 1 embedded NoSQL document speeds up retrieval.</a:t>
            </a:r>
          </a:p>
        </p:txBody>
      </p:sp>
      <p:sp>
        <p:nvSpPr>
          <p:cNvPr id="11" name="RightColTop"/>
          <p:cNvSpPr txBox="1"/>
          <p:nvPr/>
        </p:nvSpPr>
        <p:spPr>
          <a:xfrm>
            <a:off x="6126480" y="1554480"/>
            <a:ext cx="539496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4ED8"/>
                </a:solidFill>
                <a:latin typeface="Calibri"/>
                <a:cs typeface="Calibri"/>
              </a:rPr>
              <a:t>MySQL 8.0 (Relational Engine — System of Record)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Enforces 3NF normalization &amp; Foreign Key constraints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Prevents seat overbooking via ACID transactions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Computes Weighted GPA (4.0 scale) &amp; SQL Analytical Views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Fires automated AFTER UPDATE / DELETE Audit Triggers</a:t>
            </a:r>
          </a:p>
        </p:txBody>
      </p:sp>
      <p:sp>
        <p:nvSpPr>
          <p:cNvPr id="12" name="RightColBot"/>
          <p:cNvSpPr txBox="1"/>
          <p:nvPr/>
        </p:nvSpPr>
        <p:spPr>
          <a:xfrm>
            <a:off x="6126480" y="3977640"/>
            <a:ext cx="5394960" cy="22402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47857"/>
                </a:solidFill>
                <a:latin typeface="Calibri"/>
                <a:cs typeface="Calibri"/>
              </a:rPr>
              <a:t>MongoDB (CampusHub_NoSQL — Document Store)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Stores course_announcements with nested tag arrays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Aggregates student course_feedback via $group &amp; $avg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Archives full class attendance_sessions in single BSON docs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Saves denormalized student_transcripts &amp; audit_logs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SYSTEM DESIGN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Architecture &amp; Tech Stack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End-to-End Request Flow Across Role-Based Portals, Flask REST API, MySQL 8.0, and MongoDB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03 / 12</a:t>
            </a:r>
          </a:p>
        </p:txBody>
      </p:sp>
      <p:sp>
        <p:nvSpPr>
          <p:cNvPr id="10" name="Layer1"/>
          <p:cNvSpPr txBox="1"/>
          <p:nvPr/>
        </p:nvSpPr>
        <p:spPr>
          <a:xfrm>
            <a:off x="640080" y="1600200"/>
            <a:ext cx="10881360" cy="1234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txBody>
          <a:bodyPr wrap="square" lIns="150000" tIns="150000" rIns="150000" bIns="15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46E5"/>
                </a:solidFill>
                <a:latin typeface="Calibri"/>
                <a:cs typeface="Calibri"/>
              </a:rPr>
              <a:t>1. Presentation Layer (3 Role-Based Web Portals)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cs typeface="Calibri"/>
              </a:rPr>
              <a:t>Admin Portal (/) • Faculty Portal (/faculty-portal) • Student Portal (/student-portal)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Built with HTML5, Modern Enterprise CSS (Inter + Outfit + JetBrains Mono), and Vanilla ES6 Fetch API.</a:t>
            </a:r>
          </a:p>
        </p:txBody>
      </p:sp>
      <p:sp>
        <p:nvSpPr>
          <p:cNvPr id="11" name="Layer2"/>
          <p:cNvSpPr txBox="1"/>
          <p:nvPr/>
        </p:nvSpPr>
        <p:spPr>
          <a:xfrm>
            <a:off x="640080" y="3063240"/>
            <a:ext cx="10881360" cy="12801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txBody>
          <a:bodyPr wrap="square" lIns="150000" tIns="150000" rIns="150000" bIns="15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284C7"/>
                </a:solidFill>
                <a:latin typeface="Calibri"/>
                <a:cs typeface="Calibri"/>
              </a:rPr>
              <a:t>2. Application &amp; Security Layer (Python Flask REST Backend)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/>
                <a:cs typeface="Calibri"/>
              </a:rPr>
              <a:t>Role-Based Access Control (@app.before_request) • Werkzeug PBKDF2 Password Hashing • 35+ REST API Endpoints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Dual-Database Orchestration: Synchronizes transactional writes to MySQL and document snapshots to MongoDB.</a:t>
            </a:r>
          </a:p>
        </p:txBody>
      </p:sp>
      <p:sp>
        <p:nvSpPr>
          <p:cNvPr id="12" name="Layer3A"/>
          <p:cNvSpPr txBox="1"/>
          <p:nvPr/>
        </p:nvSpPr>
        <p:spPr>
          <a:xfrm>
            <a:off x="640080" y="4572000"/>
            <a:ext cx="5303520" cy="16459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txBody>
          <a:bodyPr wrap="square" lIns="160000" tIns="160000" rIns="160000" bIns="160000" anchor="t"/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4ED8"/>
                </a:solidFill>
                <a:latin typeface="Calibri"/>
                <a:cs typeface="Calibri"/>
              </a:rPr>
              <a:t>3A. Relational Engine: MySQL 8.0 (CampusHub)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9 Tables (3NF) • Foreign Keys • ACID Row Locking (FOR UPDATE) • 2 Analytical Views • 4 Audit Triggers.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475569"/>
                </a:solidFill>
                <a:latin typeface="Calibri"/>
                <a:cs typeface="Calibri"/>
              </a:rPr>
              <a:t>Driver: PyMySQL | Port: 3306 | Engine: InnoDB</a:t>
            </a:r>
          </a:p>
        </p:txBody>
      </p:sp>
      <p:sp>
        <p:nvSpPr>
          <p:cNvPr id="13" name="Layer3B"/>
          <p:cNvSpPr txBox="1"/>
          <p:nvPr/>
        </p:nvSpPr>
        <p:spPr>
          <a:xfrm>
            <a:off x="6217920" y="4572000"/>
            <a:ext cx="5303520" cy="1645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47857"/>
            </a:solidFill>
          </a:ln>
        </p:spPr>
        <p:txBody>
          <a:bodyPr wrap="square" lIns="160000" tIns="160000" rIns="160000" bIns="160000" anchor="t"/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Calibri"/>
                <a:cs typeface="Calibri"/>
              </a:rPr>
              <a:t>3B. NoSQL Engine: MongoDB (CampusHub_NoSQL)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5 Collections (course_announcements, course_feedback, attendance_sessions, audit_logs, student_transcripts).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50" b="1" dirty="0">
                <a:solidFill>
                  <a:srgbClr val="475569"/>
                </a:solidFill>
                <a:latin typeface="Calibri"/>
                <a:cs typeface="Calibri"/>
              </a:rPr>
              <a:t>Driver: PyMongo + Portable JSON Document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RELATIONAL DATABASE (MYSQL 8.0)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MySQL 8.0 Schema Design (9 Normalized 3NF Tables)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Strict Foreign Key Referential Integrity &amp; Composite Uniqueness Constraints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04 / 12</a:t>
            </a:r>
          </a:p>
        </p:txBody>
      </p:sp>
      <p:sp>
        <p:nvSpPr>
          <p:cNvPr id="10" name="TablesList"/>
          <p:cNvSpPr txBox="1"/>
          <p:nvPr/>
        </p:nvSpPr>
        <p:spPr>
          <a:xfrm>
            <a:off x="548640" y="1554480"/>
            <a:ext cx="57607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/>
                <a:cs typeface="Calibri"/>
              </a:rPr>
              <a:t>9 Core Relational Tables in CampusHub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1. Departments (department_id PK, department_name UNIQUE, hod_name)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2. Faculty (faculty_id PK, email UNIQUE, designation, department_id FK)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3. Students (student_id PK, email UNIQUE, status, department_id FK)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4. Courses (course_id PK, credits, max_capacity, department_id &amp; faculty_id FK)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5. Enrollments (enrollment_id PK, student_id FK, course_id FK, status)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6. Grades (grade_id PK, enrollment_id FK UNIQUE, marks, grade)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7. Attendance (attendance_id PK, enrollment_id FK, session_date, status)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8. AuditLog (log_id PK, table_name, action_type, old_value, new_value)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9. Users (user_id PK, username UNIQUE, password_hash, role, linked_id)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854B48-BB9B-6426-2C47-FBE06D681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296" y="1626530"/>
            <a:ext cx="3734504" cy="43605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32004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ADVANCED RDBMS ENGINEERING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Triggers, Views &amp; ACID Concurrency Control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Database-Level Automation &amp; Transaction Safety in MySQL 8.0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05 / 12</a:t>
            </a:r>
          </a:p>
        </p:txBody>
      </p:sp>
      <p:sp>
        <p:nvSpPr>
          <p:cNvPr id="10" name="RdbmsFeatures"/>
          <p:cNvSpPr txBox="1"/>
          <p:nvPr/>
        </p:nvSpPr>
        <p:spPr>
          <a:xfrm>
            <a:off x="548640" y="1554480"/>
            <a:ext cx="57607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D4ED8"/>
                </a:solidFill>
                <a:latin typeface="Calibri"/>
                <a:cs typeface="Calibri"/>
              </a:rPr>
              <a:t>1. Automated Audit Triggers (4 MySQL Triggers)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/>
                <a:cs typeface="Calibri"/>
              </a:rPr>
              <a:t>trg_grades_after_update, trg_grades_after_delete, trg_enrollments_after_update, trg_enrollments_after_delete automatically capture OLD and NEW values into AuditLog.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D4ED8"/>
                </a:solidFill>
                <a:latin typeface="Calibri"/>
                <a:cs typeface="Calibri"/>
              </a:rPr>
              <a:t>2. Pre-Compiled Analytical SQL Views (2 Views)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/>
                <a:cs typeface="Calibri"/>
              </a:rPr>
              <a:t>View_Student_Performance (5-table JOIN) and View_Course_Utilization (calculates seat fill % and remaining seats).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D4ED8"/>
                </a:solidFill>
                <a:latin typeface="Calibri"/>
                <a:cs typeface="Calibri"/>
              </a:rPr>
              <a:t>3. Pessimistic Row-Level Locking (SELECT ... FOR UPDATE)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/>
                <a:cs typeface="Calibri"/>
              </a:rPr>
              <a:t>Locks the Courses row during student self-enrollment so concurrent requests cannot exceed max_capacity.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D4ED8"/>
                </a:solidFill>
                <a:latin typeface="Calibri"/>
                <a:cs typeface="Calibri"/>
              </a:rPr>
              <a:t>4. Credit-Weighted GPA Engine (4.0 Scale)</a:t>
            </a:r>
          </a:p>
          <a:p>
            <a:pPr algn="l">
              <a:spcAft>
                <a:spcPts val="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/>
                <a:cs typeface="Calibri"/>
              </a:rPr>
              <a:t>GPA = SUM(grade_points * credits) / SUM(credits), mapping A+/A=4.0, A-=3.7, B+=3.3, B=3.0, C+=2.3, C=2.0, D=1.0, F=0.0.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BD660F-A8DE-22D9-FE56-ACF9FFD33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737" y="2924944"/>
            <a:ext cx="5501886" cy="17410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NOSQL PLATFORM (MONGODB)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MongoDB Document Store Architecture (CampusHub_NoSQL)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5 Schema-Free BSON/JSON Collections Powering Real-Time Features Across All Portals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06 / 12</a:t>
            </a:r>
          </a:p>
        </p:txBody>
      </p:sp>
      <p:sp>
        <p:nvSpPr>
          <p:cNvPr id="10" name="MongoCol0"/>
          <p:cNvSpPr txBox="1"/>
          <p:nvPr/>
        </p:nvSpPr>
        <p:spPr>
          <a:xfrm>
            <a:off x="548640" y="1554480"/>
            <a:ext cx="5394960" cy="1417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txBody>
          <a:bodyPr wrap="square" lIns="150000" tIns="150000" rIns="150000" bIns="15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Calibri"/>
                <a:cs typeface="Calibri"/>
              </a:rPr>
              <a:t>1. course_announcements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Faculty course broadcasts with priority levels (Urgent/Important/Normal) and embedded tags: ['exam', 'syllabus'] arrays.</a:t>
            </a:r>
          </a:p>
        </p:txBody>
      </p:sp>
      <p:sp>
        <p:nvSpPr>
          <p:cNvPr id="11" name="MongoCol1"/>
          <p:cNvSpPr txBox="1"/>
          <p:nvPr/>
        </p:nvSpPr>
        <p:spPr>
          <a:xfrm>
            <a:off x="6126480" y="1554480"/>
            <a:ext cx="5394960" cy="1417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txBody>
          <a:bodyPr wrap="square" lIns="150000" tIns="150000" rIns="150000" bIns="15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Calibri"/>
                <a:cs typeface="Calibri"/>
              </a:rPr>
              <a:t>2. course_feedback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Student 1–5 star ratings, difficulty levels, and reviews. Aggregated via MongoDB $group &amp; $avg pipelines.</a:t>
            </a:r>
          </a:p>
        </p:txBody>
      </p:sp>
      <p:sp>
        <p:nvSpPr>
          <p:cNvPr id="12" name="MongoCol2"/>
          <p:cNvSpPr txBox="1"/>
          <p:nvPr/>
        </p:nvSpPr>
        <p:spPr>
          <a:xfrm>
            <a:off x="548640" y="3154680"/>
            <a:ext cx="5394960" cy="1417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txBody>
          <a:bodyPr wrap="square" lIns="150000" tIns="150000" rIns="150000" bIns="15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/>
                <a:cs typeface="Calibri"/>
              </a:rPr>
              <a:t>3. attendance_sessions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Stores an entire class session's attendance roster in 1 nested document with summary counts &amp; records: [...] array.</a:t>
            </a:r>
          </a:p>
        </p:txBody>
      </p:sp>
      <p:sp>
        <p:nvSpPr>
          <p:cNvPr id="13" name="MongoCol3"/>
          <p:cNvSpPr txBox="1"/>
          <p:nvPr/>
        </p:nvSpPr>
        <p:spPr>
          <a:xfrm>
            <a:off x="6126480" y="3154680"/>
            <a:ext cx="5394960" cy="1417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txBody>
          <a:bodyPr wrap="square" lIns="150000" tIns="150000" rIns="150000" bIns="15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/>
                <a:cs typeface="Calibri"/>
              </a:rPr>
              <a:t>4. student_transcripts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Self-contained, denormalized academic transcript snapshots generated when students view/print their transcript.</a:t>
            </a:r>
          </a:p>
        </p:txBody>
      </p:sp>
      <p:sp>
        <p:nvSpPr>
          <p:cNvPr id="14" name="MongoCol4"/>
          <p:cNvSpPr txBox="1"/>
          <p:nvPr/>
        </p:nvSpPr>
        <p:spPr>
          <a:xfrm>
            <a:off x="548640" y="4754880"/>
            <a:ext cx="10972800" cy="1325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txBody>
          <a:bodyPr wrap="square" lIns="150000" tIns="150000" rIns="150000" bIns="150000" anchor="t"/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F46E5"/>
                </a:solidFill>
                <a:latin typeface="Calibri"/>
                <a:cs typeface="Calibri"/>
              </a:rPr>
              <a:t>5. audit_logs (NoSQL Stream)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Schema-free event stream recording polymorphic metadata payloads across self-enrollment, grading, and broadcasts.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NOSQL ANALYTICS &amp; JSON INSPECTOR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MongoDB Aggregation Pipeline &amp; Document Explorer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Real-Time Course Rating Analytics ($match -&gt; $group -&gt; $avg -&gt; $sort)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07 / 12</a:t>
            </a:r>
          </a:p>
        </p:txBody>
      </p:sp>
      <p:sp>
        <p:nvSpPr>
          <p:cNvPr id="10" name="AggPipeline"/>
          <p:cNvSpPr txBox="1"/>
          <p:nvPr/>
        </p:nvSpPr>
        <p:spPr>
          <a:xfrm>
            <a:off x="548640" y="1554480"/>
            <a:ext cx="57607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47857"/>
                </a:solidFill>
                <a:latin typeface="Calibri"/>
                <a:cs typeface="Calibri"/>
              </a:rPr>
              <a:t>Live MongoDB Aggregation Pipeline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When Faculty or Students open the Reviews tab, CampusHub executes a multi-stage MongoDB aggregation pipeline on course_feedback: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Stage 1 ($match): Filters feedback documents by the instructor's assigned course_id list.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Stage 2 ($group): Groups by _id: '$course_id' and computes avg_rating: { '$avg': '$rating' } and total_reviews: { '$sum': 1 }.</a:t>
            </a:r>
          </a:p>
          <a:p>
            <a:pPr marL="228600" indent="-228600" algn="l">
              <a:spcAft>
                <a:spcPts val="1000"/>
              </a:spcAft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/>
                <a:cs typeface="Calibri"/>
              </a:rPr>
              <a:t>Stage 3 ($sort): Orders courses by highest average rating.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/>
                <a:cs typeface="Calibri"/>
              </a:rPr>
              <a:t>Dual-Mode Resilience (mongo_db.py)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/>
                <a:cs typeface="Calibri"/>
              </a:rPr>
              <a:t>Connects automatically to live MongoDB (localhost:27017) via PyMongo, with automatic fallback to portable JSON document persistence (mongodb_data/*.json).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ED5FFD-0F63-CA7E-F0A7-11B83B396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006" y="1479444"/>
            <a:ext cx="4975108" cy="29436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9A4084-961C-EABC-AC9D-86388A20A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4610580"/>
            <a:ext cx="5059680" cy="19822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47328" y="32004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ROLE PORTAL 1 — ADMINISTRATOR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Admin Executive Portal &amp; 2×2 Bento Analytics Grid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Comprehensive University Oversight, Seat Utilization, and Full Entity CRUD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08 / 12</a:t>
            </a:r>
          </a:p>
        </p:txBody>
      </p:sp>
      <p:sp>
        <p:nvSpPr>
          <p:cNvPr id="10" name="AdminFeatures"/>
          <p:cNvSpPr txBox="1"/>
          <p:nvPr/>
        </p:nvSpPr>
        <p:spPr>
          <a:xfrm>
            <a:off x="548640" y="1554480"/>
            <a:ext cx="57607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/>
                <a:cs typeface="Calibri"/>
              </a:rPr>
              <a:t>Key Capabilities of the Admin Portal (/)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6 Live KPI Summary Cards: Total Students, Active Students, Total Courses, Total Faculty, Enrollments, and Average Marks.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Card 1 — Course Seat Utilization: Live capacity progress bars warning when courses approach 90%+ capacity.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Card 2 — Dean's List &amp; Top Performers: Ranks top students by average score and GPA badge.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Card 3 — Departmental Academic Pulse: Compares student counts, courses offered, and avg marks across all 5 departments.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Card 4 — Recent Course Enrollments: Real-time feed of student registrations and status badges.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Full CRUD Management: Students, Faculty, Courses, Enrollments, Grades, Users, Audit Trail, and MongoDB Explorer.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DFBCA1-93C8-127B-199B-7FB9F24C9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96"/>
          <a:stretch>
            <a:fillRect/>
          </a:stretch>
        </p:blipFill>
        <p:spPr>
          <a:xfrm>
            <a:off x="6469476" y="1457387"/>
            <a:ext cx="5562407" cy="2772904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EC314B-D2C3-4F43-F286-D1090308D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76" y="4353198"/>
            <a:ext cx="5561411" cy="20281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ROLE PORTAL 2 — FACULTY MEMBER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Faculty Portal: Grading, Attendance &amp; NoSQL Broadcasts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Dedicated Instructor Workspace Synchronized with Both MySQL &amp; MongoDB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09 / 12</a:t>
            </a:r>
          </a:p>
        </p:txBody>
      </p:sp>
      <p:sp>
        <p:nvSpPr>
          <p:cNvPr id="10" name="FacultyFeatures"/>
          <p:cNvSpPr txBox="1"/>
          <p:nvPr/>
        </p:nvSpPr>
        <p:spPr>
          <a:xfrm>
            <a:off x="548640" y="1554480"/>
            <a:ext cx="57607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/>
                <a:cs typeface="Calibri"/>
              </a:rPr>
              <a:t>Key Capabilities of the Faculty Portal (/faculty-portal)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My Courses &amp; Student Roster: View enrolled students per assigned course and enter numeric marks (0–100).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Auto-Calculated Letter Grades: Automatically assigns A+, A, A-, B+, B, C+, C, D, or F and triggers MySQL AuditLog.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Batch Session Attendance: Mark Present, Absent, Late, or Excused for an entire class date; saves to MySQL Attendance AND syncs a nested session document to MongoDB.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Course Announcements (MongoDB): Broadcast rich announcements with priority levels and custom tag arrays.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Student Feedback Analytics (MongoDB): View aggregated course star ratings and anonymous student reviews.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42F596-76D2-0385-F0AA-B2EB24080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001" y="4339760"/>
            <a:ext cx="4934076" cy="2455789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9BBF0C-3213-45E7-AEC2-ED6E44104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164" y="1322286"/>
            <a:ext cx="4551298" cy="27328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ROLE PORTAL 3 — STUDENT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Student Portal: Self-Enrollment, GPA Transcript &amp; Reviews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Real-Time Course Registration, Attendance Alerts, and Official Printable Transcript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10 / 12</a:t>
            </a:r>
          </a:p>
        </p:txBody>
      </p:sp>
      <p:sp>
        <p:nvSpPr>
          <p:cNvPr id="10" name="StudentFeatures"/>
          <p:cNvSpPr txBox="1"/>
          <p:nvPr/>
        </p:nvSpPr>
        <p:spPr>
          <a:xfrm>
            <a:off x="548640" y="1554480"/>
            <a:ext cx="57607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/>
                <a:cs typeface="Calibri"/>
              </a:rPr>
              <a:t>Key Capabilities of the Student Portal (/student-portal)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Browse Course Catalog &amp; Self-Enroll: View real-time seat availability bars and enroll/drop courses with ACID transaction safety.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Weighted GPA (4.0 Scale) &amp; Printable Transcript: Generates an official academic transcript (window.print()) and archives a JSON snapshot in MongoDB student_transcripts.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Attendance Tracker &amp; &lt;75% Warning Badge: Displays per-course attendance % and flags courses below the 75% threshold.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Course Announcements &amp; Reviews (MongoDB): Read instructor broadcasts and submit 1–5 star ratings with feedback tags.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45DE4A-407E-95CD-708F-E5F7E9F2D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511" y="1542382"/>
            <a:ext cx="5175789" cy="2179696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B5A7B5-48E3-8B97-D089-2CC5F6437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239" y="3755952"/>
            <a:ext cx="4931192" cy="2843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HeaderBar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AccentBar"/>
          <p:cNvSpPr/>
          <p:nvPr/>
        </p:nvSpPr>
        <p:spPr>
          <a:xfrm>
            <a:off x="0" y="1234440"/>
            <a:ext cx="121920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HeaderTitle"/>
          <p:cNvSpPr txBox="1"/>
          <p:nvPr/>
        </p:nvSpPr>
        <p:spPr>
          <a:xfrm>
            <a:off x="548640" y="164592"/>
            <a:ext cx="93268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18CF8"/>
                </a:solidFill>
                <a:latin typeface="Calibri"/>
                <a:cs typeface="Calibri"/>
              </a:rPr>
              <a:t>SECURITY &amp; DATA INTEGRITY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cs typeface="Calibri"/>
              </a:rPr>
              <a:t>Role-Based Access Control &amp; Dual-DB Synchronization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/>
                <a:cs typeface="Calibri"/>
              </a:rPr>
              <a:t>How CampusHub Guarantees Security and Consistency Across MySQL &amp; MongoDB</a:t>
            </a:r>
          </a:p>
        </p:txBody>
      </p:sp>
      <p:sp>
        <p:nvSpPr>
          <p:cNvPr id="6" name="SlideNum"/>
          <p:cNvSpPr txBox="1"/>
          <p:nvPr/>
        </p:nvSpPr>
        <p:spPr>
          <a:xfrm>
            <a:off x="10332720" y="320040"/>
            <a:ext cx="128016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BD5E1"/>
                </a:solidFill>
                <a:latin typeface="Calibri"/>
                <a:cs typeface="Calibri"/>
              </a:rPr>
              <a:t>11 / 12</a:t>
            </a:r>
          </a:p>
        </p:txBody>
      </p:sp>
      <p:sp>
        <p:nvSpPr>
          <p:cNvPr id="10" name="SecCol1"/>
          <p:cNvSpPr txBox="1"/>
          <p:nvPr/>
        </p:nvSpPr>
        <p:spPr>
          <a:xfrm>
            <a:off x="548640" y="1600200"/>
            <a:ext cx="539496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D4ED8"/>
                </a:solidFill>
                <a:latin typeface="Calibri"/>
                <a:cs typeface="Calibri"/>
              </a:rPr>
              <a:t>Security &amp; Access Control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Password Hashing: All user passwords in the Users table are hashed using Werkzeug PBKDF2 cryptographic hashing.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Strict Route Guard (@app.before_request): Intercepts every HTTP request to verify session role ('admin', 'faculty', 'student') and prevents cross-portal privilege escalation.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Parameterized SQL Queries: 100% of PyMySQL queries use %s bound parameters to eliminate SQL Injection vulnerabilities.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Auto-Profile Linking: Automatically binds student/faculty user accounts to their relational entity IDs.</a:t>
            </a:r>
          </a:p>
        </p:txBody>
      </p:sp>
      <p:sp>
        <p:nvSpPr>
          <p:cNvPr id="11" name="SecCol2"/>
          <p:cNvSpPr txBox="1"/>
          <p:nvPr/>
        </p:nvSpPr>
        <p:spPr>
          <a:xfrm>
            <a:off x="6217920" y="1600200"/>
            <a:ext cx="530352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txBody>
          <a:bodyPr wrap="square" lIns="180000" tIns="180000" rIns="180000" bIns="18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47857"/>
                </a:solidFill>
                <a:latin typeface="Calibri"/>
                <a:cs typeface="Calibri"/>
              </a:rPr>
              <a:t>Dual-Database Event Synchronization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Attendance Sync: Faculty marking attendance executes an upsert into MySQL Attendance AND writes a full session document to MongoDB attendance_sessions.</a:t>
            </a:r>
          </a:p>
          <a:p>
            <a:pPr marL="228600" indent="-228600" algn="l">
              <a:spcAft>
                <a:spcPts val="60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Grade Update Sync: Updating a student's marks fires the MySQL AFTER UPDATE trigger into AuditLog AND appends a JSON event to MongoDB audit_logs.</a:t>
            </a:r>
          </a:p>
          <a:p>
            <a:pPr marL="228600" indent="-228600" algn="l">
              <a:spcAft>
                <a:spcPts val="0"/>
              </a:spcAft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/>
                <a:cs typeface="Calibri"/>
              </a:rPr>
              <a:t>Transcript Archival: Generating a student transcript computes live GPA from MySQL and upserts an immutable snapshot into MongoDB student_transcripts.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Bg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opAccent1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ConclusionTitle"/>
          <p:cNvSpPr txBox="1"/>
          <p:nvPr/>
        </p:nvSpPr>
        <p:spPr>
          <a:xfrm>
            <a:off x="822960" y="1005840"/>
            <a:ext cx="1042416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/>
          <a:lstStyle/>
          <a:p>
            <a:pPr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4D399"/>
                </a:solidFill>
                <a:latin typeface="Calibri"/>
                <a:cs typeface="Calibri"/>
              </a:rPr>
              <a:t>CONCLUSION &amp; PROJECT IMPACT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Calibri"/>
                <a:cs typeface="Calibri"/>
              </a:rPr>
              <a:t>CampusHub: Best of Both Database Worlds</a:t>
            </a:r>
          </a:p>
        </p:txBody>
      </p:sp>
      <p:sp>
        <p:nvSpPr>
          <p:cNvPr id="10" name="SumCard0"/>
          <p:cNvSpPr txBox="1"/>
          <p:nvPr/>
        </p:nvSpPr>
        <p:spPr>
          <a:xfrm>
            <a:off x="822960" y="2834640"/>
            <a:ext cx="33375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2880" tIns="182880" rIns="182880" bIns="182880" anchor="t"/>
          <a:lstStyle/>
          <a:p>
            <a:pPr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0A5FA"/>
                </a:solidFill>
                <a:latin typeface="Calibri"/>
                <a:cs typeface="Calibri"/>
              </a:rPr>
              <a:t>9 MySQL 3NF Tables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/>
                <a:cs typeface="Calibri"/>
              </a:rPr>
              <a:t>Strict Foreign Keys, 2 Analytical Views, 4 Automated Audit Triggers, and ACID Row Locking.</a:t>
            </a:r>
          </a:p>
        </p:txBody>
      </p:sp>
      <p:sp>
        <p:nvSpPr>
          <p:cNvPr id="11" name="SumCard1"/>
          <p:cNvSpPr txBox="1"/>
          <p:nvPr/>
        </p:nvSpPr>
        <p:spPr>
          <a:xfrm>
            <a:off x="4389120" y="2834640"/>
            <a:ext cx="33375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2880" tIns="182880" rIns="182880" bIns="182880" anchor="t"/>
          <a:lstStyle/>
          <a:p>
            <a:pPr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34D399"/>
                </a:solidFill>
                <a:latin typeface="Calibri"/>
                <a:cs typeface="Calibri"/>
              </a:rPr>
              <a:t>5 MongoDB Collections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/>
                <a:cs typeface="Calibri"/>
              </a:rPr>
              <a:t>Announcements, Course Feedback, Session Attendance, Audit Logs, and Student Transcripts.</a:t>
            </a:r>
          </a:p>
        </p:txBody>
      </p:sp>
      <p:sp>
        <p:nvSpPr>
          <p:cNvPr id="12" name="SumCard2"/>
          <p:cNvSpPr txBox="1"/>
          <p:nvPr/>
        </p:nvSpPr>
        <p:spPr>
          <a:xfrm>
            <a:off x="7955280" y="2834640"/>
            <a:ext cx="33375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lIns="182880" tIns="182880" rIns="182880" bIns="182880" anchor="t"/>
          <a:lstStyle/>
          <a:p>
            <a:pPr algn="l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84FC"/>
                </a:solidFill>
                <a:latin typeface="Calibri"/>
                <a:cs typeface="Calibri"/>
              </a:rPr>
              <a:t>3 Role-Based Portals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/>
                <a:cs typeface="Calibri"/>
              </a:rPr>
              <a:t>Dedicated Admin, Faculty, and Student workspaces with live analytics and printable transcripts.</a:t>
            </a:r>
          </a:p>
        </p:txBody>
      </p:sp>
      <p:sp>
        <p:nvSpPr>
          <p:cNvPr id="20" name="ThankYou"/>
          <p:cNvSpPr txBox="1"/>
          <p:nvPr/>
        </p:nvSpPr>
        <p:spPr>
          <a:xfrm>
            <a:off x="887517" y="5119805"/>
            <a:ext cx="10424160" cy="73152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4F46E5"/>
            </a:solidFill>
          </a:ln>
        </p:spPr>
        <p:txBody>
          <a:bodyPr wrap="square" lIns="91440" tIns="91440" rIns="91440" bIns="9144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  <a:cs typeface="Calibri"/>
              </a:rPr>
              <a:t>Thank You!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HubTheme">
  <a:themeElements>
    <a:clrScheme name="CampusHub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4F46E5"/>
      </a:accent1>
      <a:accent2>
        <a:srgbClr val="10B981"/>
      </a:accent2>
      <a:accent3>
        <a:srgbClr val="3B82F6"/>
      </a:accent3>
      <a:accent4>
        <a:srgbClr val="F59E0B"/>
      </a:accent4>
      <a:accent5>
        <a:srgbClr val="EC4899"/>
      </a:accent5>
      <a:accent6>
        <a:srgbClr val="8B5CF6"/>
      </a:accent6>
      <a:hlink>
        <a:srgbClr val="4F46E5"/>
      </a:hlink>
      <a:folHlink>
        <a:srgbClr val="4338CA"/>
      </a:folHlink>
    </a:clrScheme>
    <a:fontScheme name="CampusHub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ampusHub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1884</Words>
  <Application>Microsoft Macintosh PowerPoint</Application>
  <PresentationFormat>Widescreen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CampusHubTheme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CampusHub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CampusHub Project Presentation</dc:title>
  <dc:creator>CampusHub</dc:creator>
  <cp:lastModifiedBy>Lamya Kadiwala [COMPUTER SCIENCE &amp; ENGINEERING - 2025]</cp:lastModifiedBy>
  <cp:revision>2</cp:revision>
  <dcterms:created xsi:type="dcterms:W3CDTF">2026-10-26T12:00:00Z</dcterms:created>
  <dcterms:modified xsi:type="dcterms:W3CDTF">2026-10-26T14:42:24Z</dcterms:modified>
</cp:coreProperties>
</file>